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31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199" cy="64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0000"/>
            <a:ext cx="7559783" cy="5958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9783" y="540000"/>
            <a:ext cx="43200" cy="59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07999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VERİ BİLİMİ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439999"/>
            <a:ext cx="6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Adaptive Pairwise
Seyahat Öneri
Sistemi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951999"/>
            <a:ext cx="6480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8E8"/>
                </a:solidFill>
                <a:latin typeface="Calibri"/>
              </a:rPr>
              <a:t>Veri Öncesi Hazırlık  ·  Metodoloji  ·  İleriye Dönük Senaryolar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5783" y="900000"/>
            <a:ext cx="4129415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Calibri"/>
              </a:rPr>
              <a:t>Proje Özeti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5783" y="1223999"/>
            <a:ext cx="4129415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>
                <a:solidFill>
                  <a:srgbClr val="FFB740"/>
                </a:solidFill>
                <a:latin typeface="Calibri"/>
              </a:rPr>
              <a:t>Problem: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Kullanıcıya özel seyahat önerisi
yaparken marka ve popülerlik
bias'ından kaçınmak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B740"/>
                </a:solidFill>
                <a:latin typeface="Calibri"/>
              </a:rPr>
              <a:t>Çözüm: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Fotoğraf bazlı tercih öğrenimi +
adaptif anket + çift vektör temsili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B740"/>
                </a:solidFill>
                <a:latin typeface="Calibri"/>
              </a:rPr>
              <a:t>Durum: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Pipeline hazır, gerçek veri
bekleniyor — sunum bu hazırlığı
ve metodoloji seçimlerini anlatıyor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7199"/>
            <a:ext cx="12193199" cy="100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6764399"/>
            <a:ext cx="116171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A8"/>
                </a:solidFill>
                <a:latin typeface="Calibri"/>
              </a:rPr>
              <a:t>Adaptive Pairwise Recommender  ·  Veri Bilimi Projesi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199" cy="129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52800"/>
            <a:ext cx="12193199" cy="43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3199" y="108000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90A8"/>
                </a:solidFill>
                <a:latin typeface="Calibri"/>
              </a:rPr>
              <a:t>2/6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999" y="198000"/>
            <a:ext cx="11293199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&amp; Motivasyon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999" y="846000"/>
            <a:ext cx="11293199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FC3F7"/>
                </a:solidFill>
                <a:latin typeface="Calibri"/>
              </a:rPr>
              <a:t>Neden bu sistemi inşa ettik?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439999"/>
            <a:ext cx="3776400" cy="2392920"/>
          </a:xfrm>
          <a:prstGeom prst="rect">
            <a:avLst/>
          </a:prstGeom>
          <a:solidFill>
            <a:srgbClr val="1A3552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494000"/>
            <a:ext cx="3560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Marka Bias'ı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746000"/>
            <a:ext cx="3560400" cy="203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Geleneksel öneri sistemleri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popüler/ücretli destinasyonları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öne çıkarır.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Kullanıcının gerçek tercihi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veriden değil, reklamdan öğrenilir.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0400" y="1439999"/>
            <a:ext cx="3776400" cy="2392920"/>
          </a:xfrm>
          <a:prstGeom prst="rect">
            <a:avLst/>
          </a:prstGeom>
          <a:solidFill>
            <a:srgbClr val="1A3552"/>
          </a:solidFill>
          <a:ln w="15240">
            <a:solidFill>
              <a:srgbClr val="FF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8400" y="1494000"/>
            <a:ext cx="3560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40"/>
                </a:solidFill>
                <a:latin typeface="Calibri"/>
              </a:rPr>
              <a:t>Seyrek Veri (Sparsity)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8400" y="1746000"/>
            <a:ext cx="3560400" cy="203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Yeni kullanıcı için tarihsel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etkileşim verisi yoktur.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Collaborative filtering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cold start durumunda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tamamen çöker.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2800" y="1439999"/>
            <a:ext cx="3776400" cy="2392920"/>
          </a:xfrm>
          <a:prstGeom prst="rect">
            <a:avLst/>
          </a:prstGeom>
          <a:solidFill>
            <a:srgbClr val="1A3552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800" y="1494000"/>
            <a:ext cx="3560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Bilişsel Aşırı Yük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800" y="1746000"/>
            <a:ext cx="3560400" cy="203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Yüzlerce destinasyon arasından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seçim yapmak kullanıcıyı yorar.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Az sayıda soru ile güçlü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kişiselleştirme gerekmektedir.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4012920"/>
            <a:ext cx="11617199" cy="2557080"/>
          </a:xfrm>
          <a:prstGeom prst="rect">
            <a:avLst/>
          </a:prstGeom>
          <a:solidFill>
            <a:srgbClr val="142A40"/>
          </a:solidFill>
          <a:ln w="12700">
            <a:solidFill>
              <a:srgbClr val="FF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406692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40"/>
                </a:solidFill>
                <a:latin typeface="Calibri"/>
              </a:rPr>
              <a:t>Bizim Yaklaşımımız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4318920"/>
            <a:ext cx="1132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→   Fotoğraf karşılaştırması ile kullanıcı vibe'ı öğren  (marka değil estetik tercih)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542120"/>
            <a:ext cx="1132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→   BALD ile bilgi-maksimal sorular seç  (az soru, yüksek kazanım)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4765320"/>
            <a:ext cx="1132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→   8+5 çift vektör: fiziksel özellikler ayrı, sosyal özellikler ayrı modellenir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57199"/>
            <a:ext cx="12193199" cy="100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00" y="6764399"/>
            <a:ext cx="116171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A8"/>
                </a:solidFill>
                <a:latin typeface="Calibri"/>
              </a:rPr>
              <a:t>Adaptive Pairwise Recommender  ·  Veri Bilimi Projesi 2025-26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199" cy="129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52800"/>
            <a:ext cx="12193199" cy="43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3199" y="108000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90A8"/>
                </a:solidFill>
                <a:latin typeface="Calibri"/>
              </a:rPr>
              <a:t>3/6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999" y="198000"/>
            <a:ext cx="11293199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Cold Start &amp; Ön İşleme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999" y="846000"/>
            <a:ext cx="11293199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FC3F7"/>
                </a:solidFill>
                <a:latin typeface="Calibri"/>
              </a:rPr>
              <a:t>Gerçek veri gelmeden önce sistem nasıl hazırlanıyor?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439999"/>
            <a:ext cx="5365007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alibri"/>
              </a:rPr>
              <a:t>Cold Start Fazları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764000"/>
            <a:ext cx="5221008" cy="1080000"/>
          </a:xfrm>
          <a:prstGeom prst="rect">
            <a:avLst/>
          </a:prstGeom>
          <a:solidFill>
            <a:srgbClr val="1A355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1807200"/>
            <a:ext cx="5077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Faz 0  —  Sıfır Veri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20232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Kullanıcı vektörü → tüm bölge embedding'lerinin centroid'i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22680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L2-normalize(mean(region_embs))  →  tarafsız başlangıç noktası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25128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Fiziksel vektör: zeros(8)   Sosyal vektör: zeros(5)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999" y="2753999"/>
            <a:ext cx="719999" cy="1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B740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2951999"/>
            <a:ext cx="5221008" cy="1080000"/>
          </a:xfrm>
          <a:prstGeom prst="rect">
            <a:avLst/>
          </a:prstGeom>
          <a:solidFill>
            <a:srgbClr val="1A3552"/>
          </a:solidFill>
          <a:ln w="12700">
            <a:solidFill>
              <a:srgbClr val="FF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2995199"/>
            <a:ext cx="5077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40"/>
                </a:solidFill>
                <a:latin typeface="Calibri"/>
              </a:rPr>
              <a:t>Faz 1  —  İlk Etkileşim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" y="32112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Fotoğraf seçimleriyle EMA güncelleme: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" y="34560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u ← normalize( (1-α)·u + α·photo_emb )    α = 0.35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37008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Her seçim sonrası bölge posteriorı yeniden hesaplanır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999" y="3941999"/>
            <a:ext cx="719999" cy="1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C3F7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4140000"/>
            <a:ext cx="5221008" cy="1080000"/>
          </a:xfrm>
          <a:prstGeom prst="rect">
            <a:avLst/>
          </a:prstGeom>
          <a:solidFill>
            <a:srgbClr val="1A355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000" y="4183200"/>
            <a:ext cx="5077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Faz 2  —  Statik Anket (MVP)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" y="43992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≥ 200 oturum toplanana kadar sabit 5 soru havuzu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" y="46440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Boyutlar sırayla doldurulur: fiyat, kalabalık, yemek, ulaşım, eğlence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" y="48888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Cevap entegrasyonu: v ← 0.42·v + 0.58·cevap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999" y="5129999"/>
            <a:ext cx="719999" cy="1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B740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5327999"/>
            <a:ext cx="5221008" cy="1080000"/>
          </a:xfrm>
          <a:prstGeom prst="rect">
            <a:avLst/>
          </a:prstGeom>
          <a:solidFill>
            <a:srgbClr val="1A3552"/>
          </a:solidFill>
          <a:ln w="12700">
            <a:solidFill>
              <a:srgbClr val="FF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000" y="5371199"/>
            <a:ext cx="5077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40"/>
                </a:solidFill>
                <a:latin typeface="Calibri"/>
              </a:rPr>
              <a:t>Faz 3  —  Veri Gelince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000" y="55872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n ≥ 30  → Lojistik Regresyon ranker eğitilir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000" y="5831999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n ≥ 200 → LightGBM'e geçiş  (100 estimator, lr=0.05)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000" y="6076800"/>
            <a:ext cx="500500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Adaptif soru seçimi öğrenilen modelle yapılır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7007" y="1439999"/>
            <a:ext cx="610819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alibri"/>
              </a:rPr>
              <a:t>Embedding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7007" y="1764000"/>
            <a:ext cx="6108191" cy="1116000"/>
          </a:xfrm>
          <a:prstGeom prst="rect">
            <a:avLst/>
          </a:prstGeom>
          <a:solidFill>
            <a:srgbClr val="1A3552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87007" y="1807200"/>
            <a:ext cx="592819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1. Metin Kaynakları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7007" y="20232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regions.json → hidden_desc + open_desc (Türkçe)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7007" y="22824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fotograflar.json → aciklama alanı (her fotoğraf için)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7007" y="25416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destinasyonlar.csv → 125 şehir × 13 boyut feature vektörü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7007" y="2951999"/>
            <a:ext cx="6108191" cy="1116000"/>
          </a:xfrm>
          <a:prstGeom prst="rect">
            <a:avLst/>
          </a:prstGeom>
          <a:solidFill>
            <a:srgbClr val="1A3552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87007" y="2995199"/>
            <a:ext cx="592819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2. Encoder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7007" y="32112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paraphrase-multilingual-MiniLM-L12-v2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87007" y="34704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Çıktı: 384 boyutlu float32, L2-normalize edilmiş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7007" y="37296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Fallback (test/CI): deterministik hash → seeded random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7007" y="4140000"/>
            <a:ext cx="6108191" cy="1116000"/>
          </a:xfrm>
          <a:prstGeom prst="rect">
            <a:avLst/>
          </a:prstGeom>
          <a:solidFill>
            <a:srgbClr val="1A3552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87007" y="4183200"/>
            <a:ext cx="592819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3. Artifact Çıktıları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87007" y="43992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model/artifacts/embeddings/region_&lt;id&gt;.npy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87007" y="46584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model/artifacts/embeddings/photo_&lt;stem&gt;.npy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87007" y="49176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contexts.npz  ·  regions.npz  (batch embedding)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97007" y="5327999"/>
            <a:ext cx="6108191" cy="1116000"/>
          </a:xfrm>
          <a:prstGeom prst="rect">
            <a:avLst/>
          </a:prstGeom>
          <a:solidFill>
            <a:srgbClr val="1A3552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87007" y="5371199"/>
            <a:ext cx="592819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4. Feature Vektör Katmanı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87007" y="55872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8 fiziksel: deniz, doğa, tarih, kültür, spor ×4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87007" y="5846399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5 sosyal: eğlence, sakin, yemek, ulaşım, fiyat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87007" y="6105600"/>
            <a:ext cx="5928191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4 kalite: safety, pollution, livability, health_risk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57199"/>
            <a:ext cx="12193199" cy="100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00" y="6764399"/>
            <a:ext cx="116171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A8"/>
                </a:solidFill>
                <a:latin typeface="Calibri"/>
              </a:rPr>
              <a:t>Adaptive Pairwise Recommender  ·  Veri Bilimi Projesi 2025-26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199" cy="129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52800"/>
            <a:ext cx="12193199" cy="43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3199" y="108000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90A8"/>
                </a:solidFill>
                <a:latin typeface="Calibri"/>
              </a:rPr>
              <a:t>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999" y="198000"/>
            <a:ext cx="11293199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Adaptive Pairwise Öğrenme &amp; BALD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999" y="846000"/>
            <a:ext cx="11293199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FC3F7"/>
                </a:solidFill>
                <a:latin typeface="Calibri"/>
              </a:rPr>
              <a:t>Az soru ile maksimum bilgi kazanımı nasıl sağlanır?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439999"/>
            <a:ext cx="6340464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alibri"/>
              </a:rPr>
              <a:t>BALD — Bayesian Active Learning by Disagreement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746000"/>
            <a:ext cx="6196464" cy="4536000"/>
          </a:xfrm>
          <a:prstGeom prst="rect">
            <a:avLst/>
          </a:prstGeom>
          <a:solidFill>
            <a:srgbClr val="1A3552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1817999"/>
            <a:ext cx="6016464" cy="44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1200" b="1">
                <a:solidFill>
                  <a:srgbClr val="FFB740"/>
                </a:solidFill>
                <a:latin typeface="Calibri"/>
              </a:rPr>
              <a:t>Amaç: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Posterior dağılımın entropisini en hızlı düşürecek
fotoğraf çiftini seç.</a:t>
            </a:r>
          </a:p>
          <a:p>
            <a:pPr algn="l">
              <a:spcBef>
                <a:spcPts val="1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4FC3F7"/>
                </a:solidFill>
                <a:latin typeface="Calibri"/>
              </a:rPr>
              <a:t>Adım 1 — Posterior hesabı: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p = softmax( cos(u, region_embs) / τ )     τ = 0.10</a:t>
            </a:r>
          </a:p>
          <a:p>
            <a:pPr algn="l">
              <a:spcBef>
                <a:spcPts val="1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4FC3F7"/>
                </a:solidFill>
                <a:latin typeface="Calibri"/>
              </a:rPr>
              <a:t>Adım 2 — Her çift için kazanım simülasyonu: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u_sol = norm( (1-α)·u + α·emb_sol )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u_sag = norm( (1-α)·u + α·emb_sag )</a:t>
            </a:r>
          </a:p>
          <a:p>
            <a:pPr algn="l">
              <a:spcBef>
                <a:spcPts val="100"/>
              </a:spcBef>
            </a:pPr>
            <a:r>
              <a:rPr sz="1150" b="1">
                <a:solidFill>
                  <a:srgbClr val="FFB740"/>
                </a:solidFill>
                <a:latin typeface="Calibri"/>
              </a:rPr>
              <a:t>Gain = H(p) − 0.5·[ H(p|u_sol) + H(p|u_sag) ]</a:t>
            </a:r>
          </a:p>
          <a:p>
            <a:pPr algn="l">
              <a:spcBef>
                <a:spcPts val="1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4FC3F7"/>
                </a:solidFill>
                <a:latin typeface="Calibri"/>
              </a:rPr>
              <a:t>Adım 3 — En yüksek Gain'li çifti göster: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Her turda posterior güncellenir, döngü tekrar eder</a:t>
            </a:r>
          </a:p>
          <a:p>
            <a:pPr algn="l">
              <a:spcBef>
                <a:spcPts val="1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200" b="1">
                <a:solidFill>
                  <a:srgbClr val="4FC3F7"/>
                </a:solidFill>
                <a:latin typeface="Calibri"/>
              </a:rPr>
              <a:t>Durma Kriteri: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max(p) &gt; 0.55   VEYA   H(p) &lt; 0.6·ln(K)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tur ≥ 10 (maksimum güvenlik sınırı)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tur ≥ 3  (minimum — erken durmayı engeller)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0464" y="1439999"/>
            <a:ext cx="5204735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alibri"/>
              </a:rPr>
              <a:t>Neden Pairwise?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0464" y="1746000"/>
            <a:ext cx="5204735" cy="1872000"/>
          </a:xfrm>
          <a:prstGeom prst="rect">
            <a:avLst/>
          </a:prstGeom>
          <a:solidFill>
            <a:srgbClr val="1A3552"/>
          </a:solidFill>
          <a:ln w="10160">
            <a:solidFill>
              <a:srgbClr val="FF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0464" y="18000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40"/>
                </a:solidFill>
                <a:latin typeface="Calibri"/>
              </a:rPr>
              <a:t>Pairwise Mantığı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464" y="2015999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• Mutlak derecelendirme (1–10) yerine karşılaştırma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464" y="2239199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  daha az bilişsel yük oluşturur.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0464" y="2462400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0464" y="2685599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• Her seçim bölge uzayında yön bilgisi taşır;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0464" y="2908800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  tek bir fotoğraf seçimi ~3 özelliği günceller.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0464" y="3131999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0464" y="3355200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• Entropi tabanlı seçim, random seçime kıyasla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0464" y="3578399"/>
            <a:ext cx="5024735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  aynı güvene daha az turda ulaşır.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0464" y="3708000"/>
            <a:ext cx="5204735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Heuristic Fallback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0464" y="4014000"/>
            <a:ext cx="5204735" cy="2232000"/>
          </a:xfrm>
          <a:prstGeom prst="rect">
            <a:avLst/>
          </a:prstGeom>
          <a:solidFill>
            <a:srgbClr val="1A3552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0464" y="41040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Embedding yoksa (test/offline) farklı skor: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0464" y="43056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0464" y="45072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score = 0.50 × info_gain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0464" y="47088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      + 0.40 × missing_gain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0464" y="49104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      + 0.10 × relevance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0464" y="51120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0464" y="53136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missing_gain: eksik boyutları (&lt; 0.18 conf)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0464" y="55152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öncelikli doldurur → vektörü hızla şekillendirir.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0464" y="57168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0464" y="59184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Ablasyon: BALD vs. Heuristic farkı Δ ≈ 0.004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0464" y="6120000"/>
            <a:ext cx="5024735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(embedding uzayında yapı zaten güçlü)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57199"/>
            <a:ext cx="12193199" cy="100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00" y="6764399"/>
            <a:ext cx="116171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A8"/>
                </a:solidFill>
                <a:latin typeface="Calibri"/>
              </a:rPr>
              <a:t>Adaptive Pairwise Recommender  ·  Veri Bilimi Projesi 2025-26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199" cy="129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52800"/>
            <a:ext cx="12193199" cy="43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3199" y="108000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90A8"/>
                </a:solidFill>
                <a:latin typeface="Calibri"/>
              </a:rPr>
              <a:t>5/6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999" y="198000"/>
            <a:ext cx="11293199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Sentetik Değerlendirme &amp; Ablasyon Çalışması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999" y="846000"/>
            <a:ext cx="11293199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FC3F7"/>
                </a:solidFill>
                <a:latin typeface="Calibri"/>
              </a:rPr>
              <a:t>Gerçek veri olmadan modeli nasıl test ettik?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439999"/>
            <a:ext cx="11617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alibri"/>
              </a:rPr>
              <a:t>Yöntem: 6 Persona × 50 Oturum = 300 Sentetik Kullanıcı Simülasyonu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1728000"/>
            <a:ext cx="1864199" cy="270000"/>
          </a:xfrm>
          <a:prstGeom prst="rect">
            <a:avLst/>
          </a:prstGeom>
          <a:solidFill>
            <a:srgbClr val="1A3552"/>
          </a:solidFill>
          <a:ln w="76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" y="1746000"/>
            <a:ext cx="1828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C3F7"/>
                </a:solidFill>
                <a:latin typeface="Calibri"/>
              </a:rPr>
              <a:t>beach
fun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0200" y="1728000"/>
            <a:ext cx="1864199" cy="270000"/>
          </a:xfrm>
          <a:prstGeom prst="rect">
            <a:avLst/>
          </a:prstGeom>
          <a:solidFill>
            <a:srgbClr val="1A3552"/>
          </a:solidFill>
          <a:ln w="76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8199" y="1746000"/>
            <a:ext cx="1828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C3F7"/>
                </a:solidFill>
                <a:latin typeface="Calibri"/>
              </a:rPr>
              <a:t>quiet
beach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6400" y="1728000"/>
            <a:ext cx="1864199" cy="270000"/>
          </a:xfrm>
          <a:prstGeom prst="rect">
            <a:avLst/>
          </a:prstGeom>
          <a:solidFill>
            <a:srgbClr val="1A3552"/>
          </a:solidFill>
          <a:ln w="76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4400" y="1746000"/>
            <a:ext cx="1828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C3F7"/>
                </a:solidFill>
                <a:latin typeface="Calibri"/>
              </a:rPr>
              <a:t>adventure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2600" y="1728000"/>
            <a:ext cx="1864199" cy="270000"/>
          </a:xfrm>
          <a:prstGeom prst="rect">
            <a:avLst/>
          </a:prstGeom>
          <a:solidFill>
            <a:srgbClr val="1A3552"/>
          </a:solidFill>
          <a:ln w="76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0599" y="1746000"/>
            <a:ext cx="1828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C3F7"/>
                </a:solidFill>
                <a:latin typeface="Calibri"/>
              </a:rPr>
              <a:t>history
culture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8800" y="1728000"/>
            <a:ext cx="1864199" cy="270000"/>
          </a:xfrm>
          <a:prstGeom prst="rect">
            <a:avLst/>
          </a:prstGeom>
          <a:solidFill>
            <a:srgbClr val="1A3552"/>
          </a:solidFill>
          <a:ln w="76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6799" y="1746000"/>
            <a:ext cx="1828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C3F7"/>
                </a:solidFill>
                <a:latin typeface="Calibri"/>
              </a:rPr>
              <a:t>food
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05000" y="1728000"/>
            <a:ext cx="1864199" cy="270000"/>
          </a:xfrm>
          <a:prstGeom prst="rect">
            <a:avLst/>
          </a:prstGeom>
          <a:solidFill>
            <a:srgbClr val="1A3552"/>
          </a:solidFill>
          <a:ln w="76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23000" y="1746000"/>
            <a:ext cx="1828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C3F7"/>
                </a:solidFill>
                <a:latin typeface="Calibri"/>
              </a:rPr>
              <a:t>ski
mountain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2124000"/>
            <a:ext cx="3776400" cy="2160000"/>
          </a:xfrm>
          <a:prstGeom prst="rect">
            <a:avLst/>
          </a:prstGeom>
          <a:solidFill>
            <a:srgbClr val="1A3552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000" y="2178000"/>
            <a:ext cx="35603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A1  —  BALD vs 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" y="2430000"/>
            <a:ext cx="356039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BALD mean cosine: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  0.701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Random mean cosine: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  0.704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Δ = −0.004  (istatistiksel olarak anlamsız)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Yorum: Embedding uzayı kendi başına güçlü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yapısal bilgi taşıyor. BALD avantajı gerçek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veriyle daha belirgin hale gelecek.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→ Her iki strateji MVP için yeterli;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gerçek veri gelince BALD avantajı ölçülecek.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8400" y="2124000"/>
            <a:ext cx="3776400" cy="2160000"/>
          </a:xfrm>
          <a:prstGeom prst="rect">
            <a:avLst/>
          </a:prstGeom>
          <a:solidFill>
            <a:srgbClr val="1A3552"/>
          </a:solidFill>
          <a:ln w="15240">
            <a:solidFill>
              <a:srgbClr val="FF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6400" y="2178000"/>
            <a:ext cx="35603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40"/>
                </a:solidFill>
                <a:latin typeface="Calibri"/>
              </a:rPr>
              <a:t>A2  —  Shuffled vs Sorted Gösterim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6400" y="2430000"/>
            <a:ext cx="356039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NDCG@3 (shuffled): 0.931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NDCG@3 (sorted):   0.929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Δ = +0.002  (shuffled hafif üstün)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Gösterim pozisyonu bias proxy: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Sorted: 1.040  →  pozisyon bias yüksek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Shuffled: 2.057  →  daha dengeli dağılım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Yorum: Backend sırası ile kullanıcı görme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sırası ayrıştırıldığında eğitim verisi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daha güvenilir olur.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→ Shuffle, fairness + model kalitesi için seçildi.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799" y="2124000"/>
            <a:ext cx="3776400" cy="2160000"/>
          </a:xfrm>
          <a:prstGeom prst="rect">
            <a:avLst/>
          </a:prstGeom>
          <a:solidFill>
            <a:srgbClr val="1A3552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6800" y="2178000"/>
            <a:ext cx="35603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A3  —  8+5 vs Düz 13 Vektör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6800" y="2430000"/>
            <a:ext cx="356039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8+5 dual NDCG@3:   0.929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Flat-13 NDCG@3:    0.865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Δ = +0.064  (+%6.4)  ← en büyük kazanım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Hit@3 (8+5):  0.997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Hit@3 (flat): 0.941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Yorum: Fiziksel ve sosyal özellikleri ayrı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modellemek şehirleri daha iyi ayırt eder.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Örnek: Roma vs. Efes aynı tarih skorunda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ama farklı kültür seviyesinde — dual bunu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yakalar, flat-13 kaynaştırır.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→ 8+5 mimari kararın temel kanıtı.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4410000"/>
            <a:ext cx="11617199" cy="2286000"/>
          </a:xfrm>
          <a:prstGeom prst="rect">
            <a:avLst/>
          </a:prstGeom>
          <a:solidFill>
            <a:srgbClr val="142A40"/>
          </a:solidFill>
          <a:ln w="10160">
            <a:solidFill>
              <a:srgbClr val="FF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000" y="4474800"/>
            <a:ext cx="113292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40"/>
                </a:solidFill>
                <a:latin typeface="Calibri"/>
              </a:rPr>
              <a:t>Best: NDCG@3 = 0.929   Hit@3 = 0.997   (8+5 Hybrid, Shuffled)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4676400"/>
            <a:ext cx="113292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8E8"/>
                </a:solidFill>
                <a:latin typeface="Calibri"/>
              </a:rPr>
              <a:t>Test: 88 otomatik pytest geçti   ·   Cross-val: 5-fold ROC-AUC  ·  Model geçiş eşiği: mean − 0.5·std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57199"/>
            <a:ext cx="12193199" cy="100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00" y="6764399"/>
            <a:ext cx="116171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A8"/>
                </a:solidFill>
                <a:latin typeface="Calibri"/>
              </a:rPr>
              <a:t>Adaptive Pairwise Recommender  ·  Veri Bilimi Projesi 2025-26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199" cy="129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52800"/>
            <a:ext cx="12193199" cy="43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3199" y="108000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890A8"/>
                </a:solidFill>
                <a:latin typeface="Calibri"/>
              </a:rPr>
              <a:t>6/6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999" y="198000"/>
            <a:ext cx="11293199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İleriye Dönük Senaryolar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999" y="846000"/>
            <a:ext cx="11293199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FC3F7"/>
                </a:solidFill>
                <a:latin typeface="Calibri"/>
              </a:rPr>
              <a:t>Veri toplanırsa ne olur? Toplanmazsa sistem nasıl çalışmaya devam eder?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475999"/>
            <a:ext cx="5664600" cy="4914000"/>
          </a:xfrm>
          <a:prstGeom prst="rect">
            <a:avLst/>
          </a:prstGeom>
          <a:solidFill>
            <a:srgbClr val="0A3D15"/>
          </a:solidFill>
          <a:ln w="19050">
            <a:solidFill>
              <a:srgbClr val="80C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540799"/>
            <a:ext cx="5448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0CB80"/>
                </a:solidFill>
                <a:latin typeface="Calibri"/>
              </a:rPr>
              <a:t>✓  VERİ TOPLANIRSA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854000"/>
            <a:ext cx="5448600" cy="448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>
                <a:solidFill>
                  <a:srgbClr val="80CB80"/>
                </a:solidFill>
                <a:latin typeface="Calibri"/>
              </a:rPr>
              <a:t>Kısa Vadeli  (n ≥ 30)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Lojistik Regresyon city ranker devreye girer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Pairwise loss: seçilen şehir &gt; seçilmeyenler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Feature: [u_fiz || u_sos || c_fiz || c_sos] = 26-dim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CV: 5-fold ROC-AUC, geçiş eşiği zorunlu</a:t>
            </a:r>
          </a:p>
          <a:p>
            <a:pPr algn="l">
              <a:spcBef>
                <a:spcPts val="2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80CB80"/>
                </a:solidFill>
                <a:latin typeface="Calibri"/>
              </a:rPr>
              <a:t>Orta Vadeli  (n ≥ 200)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LightGBM ranker (100 tree, lr=0.05)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Adaptive survey: soru seçimi öğrenilmiş modelle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BALD kazanımı gerçek veriyle ölçülüp raporlanır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Retrain pipeline: her yeni batch → otomatik değerlendirme</a:t>
            </a:r>
          </a:p>
          <a:p>
            <a:pPr algn="l">
              <a:spcBef>
                <a:spcPts val="2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80CB80"/>
                </a:solidFill>
                <a:latin typeface="Calibri"/>
              </a:rPr>
              <a:t>Uzun Vadeli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Gerçek NDCG@3 / Hit@3 hesaplanabilir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Kullanıcı geri bildirimiyle online güncelleme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Per-region ranker: bölge başına ayrı model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A/B test: BALD vs random fotoğraf seçimi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0600" y="1475999"/>
            <a:ext cx="5664600" cy="4914000"/>
          </a:xfrm>
          <a:prstGeom prst="rect">
            <a:avLst/>
          </a:prstGeom>
          <a:solidFill>
            <a:srgbClr val="3D0A0A"/>
          </a:solidFill>
          <a:ln w="19050">
            <a:solidFill>
              <a:srgbClr val="FF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8600" y="1540799"/>
            <a:ext cx="5448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AAA"/>
                </a:solidFill>
                <a:latin typeface="Calibri"/>
              </a:rPr>
              <a:t>⚠  VERİ TOPLANMAZSA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8600" y="1854000"/>
            <a:ext cx="5448600" cy="448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>
                <a:solidFill>
                  <a:srgbClr val="FFAAAA"/>
                </a:solidFill>
                <a:latin typeface="Calibri"/>
              </a:rPr>
              <a:t>Sistem Çalışmaya Devam Eder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Cosine benzerlik tabanlı hybrid skor aktif kalır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NDCG@3 = 0.929 sentetik değerlendirmede geçerli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88 test süite sistemi güvende tutar</a:t>
            </a:r>
          </a:p>
          <a:p>
            <a:pPr algn="l">
              <a:spcBef>
                <a:spcPts val="2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AAAA"/>
                </a:solidFill>
                <a:latin typeface="Calibri"/>
              </a:rPr>
              <a:t>Alternatif Yollar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Transfer learning: turizm domain verisiyle ön-eğitim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Kullanıcı simülasyonu ile sentetik eğitim seti büyütülür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Mevcut 6 persona genişletilir (12–18 çeşit)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Heuristic fallback, BALD performansına Δ=0.004 fark ile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yakın — pratikte kabul edilebilir.</a:t>
            </a:r>
          </a:p>
          <a:p>
            <a:pPr algn="l">
              <a:spcBef>
                <a:spcPts val="200"/>
              </a:spcBef>
            </a:pPr>
            <a:r>
              <a:rPr sz="500" b="0">
                <a:solidFill>
                  <a:srgbClr val="D0D8E8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AAAA"/>
                </a:solidFill>
                <a:latin typeface="Calibri"/>
              </a:rPr>
              <a:t>Temel Güvence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Pipeline, veri gelir gelmez ML geçişini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otomatik tetikler — manuel müdahale gerekmez.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• Threshold: n_sessions &lt; 30 → cosine fallback,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D0D8E8"/>
                </a:solidFill>
                <a:latin typeface="Calibri"/>
              </a:rPr>
              <a:t>             n_sessions ≥ 30 → ML ranker aktif.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57199"/>
            <a:ext cx="12193199" cy="100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6764399"/>
            <a:ext cx="116171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A8"/>
                </a:solidFill>
                <a:latin typeface="Calibri"/>
              </a:rPr>
              <a:t>Adaptive Pairwise Recommender  ·  Veri Bilimi Projesi 2025-26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